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58" r:id="rId5"/>
    <p:sldId id="261" r:id="rId6"/>
    <p:sldId id="262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3F1F"/>
    <a:srgbClr val="427BF9"/>
    <a:srgbClr val="99BE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15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093497-7E7A-4FFD-B7B7-EF2183A8C212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61D155-9E85-4B59-A6B7-6001C396249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8030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1D155-9E85-4B59-A6B7-6001C3962494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5371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29ACE-75F1-3851-5402-BBBA0AF8E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75F88A-D827-9C9C-2AC2-9E5DC96017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F82AAB-14D3-BA0A-E449-A738277988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BB3F3-BD3D-96DB-7611-C20E36EC4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1D155-9E85-4B59-A6B7-6001C3962494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2423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1D155-9E85-4B59-A6B7-6001C3962494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8158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1D155-9E85-4B59-A6B7-6001C3962494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6184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CB4DB-A812-A19A-ABAA-D13F80D3F8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5E5B2-FF72-43C1-4DA5-85478CDDE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5E821-063E-DADA-3107-6310CA3AA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C7D0A-6659-485D-A96A-1A5AB2E2AE0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0BF68-5AEC-3BEC-BD4E-E1C83393C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401D9-C4B8-66D1-F7B9-6F9C4A321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8FE2-964A-474B-9999-26ABCACA8C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4124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141E9-6031-7590-CEB3-40FE465A0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4969E-3990-A636-39E6-659C4FB69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138F8-7C5A-830B-B0A9-AB1A7A22D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C7D0A-6659-485D-A96A-1A5AB2E2AE0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7F5F9-1D7B-21C1-E44D-53D5A4C79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477B5-526C-131F-F11C-8E7233F70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8FE2-964A-474B-9999-26ABCACA8C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5227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74AC5-F358-CBBA-1A26-DEB1A97FF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A639C-7CA1-DABD-EADD-D4151F930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E834A-1322-A7C0-21B6-32A92D0CD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C7D0A-6659-485D-A96A-1A5AB2E2AE0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E5DDE-F075-18C9-DAD7-56F5A8042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99535-0F7E-FE59-F007-404FD6ED1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8FE2-964A-474B-9999-26ABCACA8C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1205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E4276-2465-8742-C0AB-C94FF87B5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E1A08-8E0F-4B67-662F-28A4AB9828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98A0F-BB66-F0DE-73B5-37C3DC3C24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1E28A-1FA6-45D3-DB75-DB8D5F7D0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C7D0A-6659-485D-A96A-1A5AB2E2AE0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5F866-D94C-8A25-91AD-7CEA86D66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B647E-07B8-418B-C5E2-433A45689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8FE2-964A-474B-9999-26ABCACA8C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6389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63EFC-EC0B-F0A3-3503-200F98D74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37550-5CCA-053F-70D5-B70FDA79B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84AEDC-B378-B521-8666-C6107FCFE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735F30-EA86-C5DD-14AE-1498C7C216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6A674A-1CCB-0AC8-0149-2CA98C32D4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E956AC-E01E-76AB-16CE-DB126512F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C7D0A-6659-485D-A96A-1A5AB2E2AE0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17F7DE-D43E-3922-8B87-5C162706D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7B2CE9-C7E8-38AE-F169-30A8076A9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8FE2-964A-474B-9999-26ABCACA8C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3013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41161-608F-12AD-27F0-8A432DD5D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3EB167-010C-6C96-C004-9A166BD8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C7D0A-6659-485D-A96A-1A5AB2E2AE0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49CF93-DD85-ACEF-03FF-37631F5C5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4DC769-2F33-5F47-112E-AD1E64D3D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8FE2-964A-474B-9999-26ABCACA8C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5016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CE1F93-5AC7-8BAB-02E5-A803BB76A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C7D0A-6659-485D-A96A-1A5AB2E2AE0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20F8B6-936F-0F70-C679-AE0A475E9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853C9-9463-588B-8CE9-1C698B8D4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8FE2-964A-474B-9999-26ABCACA8C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7438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3FDF6-7A6A-7136-9FC9-8B20B4B06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A69F2-2D1F-9413-D215-12CB9B0ED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77081D-F800-9F3D-04EC-9675B8082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6EC6F-5610-FD00-9DF2-2DAB98CDD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C7D0A-6659-485D-A96A-1A5AB2E2AE0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727A5-3A3C-9664-6BBE-598B6FFCD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85A589-16C3-072E-E166-0A82E7948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8FE2-964A-474B-9999-26ABCACA8C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6792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81D77-97EA-F989-5757-930A5FA26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120C2D-0560-12E7-E601-6561D531C7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639F70-CB22-41CE-7382-B1A996B2DA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996FD-3DF8-DE15-01CB-EC8D40418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C7D0A-6659-485D-A96A-1A5AB2E2AE0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8BB48-BFE7-C8B3-DFD4-554563167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A9499-24A2-659D-6C48-BBD04232D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8FE2-964A-474B-9999-26ABCACA8C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9460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C312F-A42A-F387-1CD9-06A118D34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83E024-1F06-9720-E13C-E5B5DFF85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8DB09-0835-4AEF-0D67-73C105395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C7D0A-6659-485D-A96A-1A5AB2E2AE0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5A335-6275-68F1-22C1-7A141892A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9041C-7829-0443-EC29-2C0CD20D3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8FE2-964A-474B-9999-26ABCACA8C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822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E967D6-D72C-46B2-4F94-7167C03B82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451FA7-EDB8-0E24-6958-203B36CA3A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86C4E-BE40-D887-4989-B8204D912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C7D0A-6659-485D-A96A-1A5AB2E2AE0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B9D89-EFB3-E712-E1C4-C6910ACAC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C8336-C086-CB0D-1849-520CF5338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8FE2-964A-474B-9999-26ABCACA8C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6653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4F7EE7-AE41-03D0-4320-C065746E1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6931A-9154-9683-969A-40D07913A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494F2-5FBB-9BCD-C7E6-3AC97B038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0C7D0A-6659-485D-A96A-1A5AB2E2AE0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9FB1C-08F0-A5E0-DE39-4ACD3BB0A3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E1C9C-A5E4-9472-E024-3DB38EB46C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AE8FE2-964A-474B-9999-26ABCACA8C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3787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D02FD-DF69-813D-29AB-A790E3617C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632374"/>
            <a:ext cx="9252373" cy="1964266"/>
          </a:xfrm>
        </p:spPr>
        <p:txBody>
          <a:bodyPr>
            <a:normAutofit/>
          </a:bodyPr>
          <a:lstStyle/>
          <a:p>
            <a:r>
              <a:rPr lang="de-DE" dirty="0"/>
              <a:t>ACC </a:t>
            </a:r>
            <a:r>
              <a:rPr lang="zh-CN" altLang="en-US" dirty="0"/>
              <a:t>路线</a:t>
            </a:r>
            <a:br>
              <a:rPr lang="de-DE" altLang="zh-CN" dirty="0"/>
            </a:br>
            <a:br>
              <a:rPr lang="de-DE" altLang="zh-CN" dirty="0"/>
            </a:br>
            <a:r>
              <a:rPr lang="es-ES" altLang="zh-CN" sz="1600" dirty="0"/>
              <a:t>(</a:t>
            </a:r>
            <a:r>
              <a:rPr lang="zh-CN" altLang="en-US" sz="1600" dirty="0"/>
              <a:t>偏向于周中</a:t>
            </a:r>
            <a:r>
              <a:rPr lang="en-US" altLang="zh-CN" sz="1600" dirty="0"/>
              <a:t>Afterwork)</a:t>
            </a:r>
            <a:endParaRPr lang="de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C78A4C-0CFD-9601-AFC0-FE1DEFE4F449}"/>
              </a:ext>
            </a:extLst>
          </p:cNvPr>
          <p:cNvSpPr txBox="1"/>
          <p:nvPr/>
        </p:nvSpPr>
        <p:spPr>
          <a:xfrm>
            <a:off x="4639655" y="3963952"/>
            <a:ext cx="3106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zh-CN" sz="3600" b="1" dirty="0"/>
              <a:t>M</a:t>
            </a:r>
            <a:r>
              <a:rPr lang="de-DE" altLang="zh-CN" sz="3600" b="1" dirty="0" err="1"/>
              <a:t>ünchen</a:t>
            </a:r>
            <a:r>
              <a:rPr lang="de-DE" altLang="zh-CN" sz="3600" b="1" dirty="0"/>
              <a:t> Süd</a:t>
            </a:r>
            <a:endParaRPr lang="de-DE" sz="3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31E502-5C2B-4CE1-9FBB-2834FD01E0A0}"/>
              </a:ext>
            </a:extLst>
          </p:cNvPr>
          <p:cNvSpPr txBox="1"/>
          <p:nvPr/>
        </p:nvSpPr>
        <p:spPr>
          <a:xfrm>
            <a:off x="5439515" y="4881738"/>
            <a:ext cx="15071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/>
              <a:t>Ronnie 	</a:t>
            </a:r>
          </a:p>
          <a:p>
            <a:pPr algn="ctr"/>
            <a:r>
              <a:rPr lang="en-US" altLang="zh-CN" sz="2000" dirty="0"/>
              <a:t>21.01.2026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1090509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r="-15000" b="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B0CD0238-86C6-53C2-FF71-02E2890DF6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753742"/>
            <a:ext cx="5572664" cy="1104258"/>
          </a:xfrm>
          <a:prstGeom prst="rect">
            <a:avLst/>
          </a:prstGeom>
          <a:noFill/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713E3AD-443A-73F8-28C3-FB91E2B2DD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2000">
                <a:srgbClr val="99BE70">
                  <a:alpha val="0"/>
                </a:srgbClr>
              </a:gs>
              <a:gs pos="54000">
                <a:schemeClr val="tx1">
                  <a:lumMod val="69000"/>
                  <a:alpha val="82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9815D1-16F6-CA83-3784-469E62829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063" y="250395"/>
            <a:ext cx="2017104" cy="678670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solidFill>
                  <a:srgbClr val="427BF9"/>
                </a:solidFill>
              </a:rPr>
              <a:t>Route 1</a:t>
            </a:r>
            <a:endParaRPr lang="de-DE" b="1" dirty="0">
              <a:solidFill>
                <a:srgbClr val="427BF9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A9E1CA-C4E2-FB57-B39F-6811BF11C470}"/>
              </a:ext>
            </a:extLst>
          </p:cNvPr>
          <p:cNvSpPr txBox="1"/>
          <p:nvPr/>
        </p:nvSpPr>
        <p:spPr>
          <a:xfrm>
            <a:off x="6170063" y="1099007"/>
            <a:ext cx="584871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ptos" panose="020B0004020202020204" pitchFamily="34" charset="0"/>
              </a:rPr>
              <a:t>1. </a:t>
            </a:r>
            <a:r>
              <a:rPr lang="zh-CN" altLang="en-US" b="1" dirty="0">
                <a:solidFill>
                  <a:schemeClr val="bg1"/>
                </a:solidFill>
                <a:latin typeface="Aptos" panose="020B0004020202020204" pitchFamily="34" charset="0"/>
              </a:rPr>
              <a:t>路线描述</a:t>
            </a:r>
            <a:endParaRPr lang="en-US" altLang="zh-CN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Aptos" panose="020B0004020202020204" pitchFamily="34" charset="0"/>
              </a:rPr>
              <a:t>路线开始于慕尼黑骑行经典始发地 </a:t>
            </a:r>
            <a:r>
              <a:rPr lang="en-US" altLang="zh-CN" dirty="0" err="1">
                <a:solidFill>
                  <a:schemeClr val="bg1"/>
                </a:solidFill>
                <a:latin typeface="Aptos" panose="020B0004020202020204" pitchFamily="34" charset="0"/>
              </a:rPr>
              <a:t>Perlacher</a:t>
            </a:r>
            <a:r>
              <a:rPr lang="en-US" altLang="zh-CN" dirty="0">
                <a:solidFill>
                  <a:schemeClr val="bg1"/>
                </a:solidFill>
                <a:latin typeface="Aptos" panose="020B0004020202020204" pitchFamily="34" charset="0"/>
              </a:rPr>
              <a:t> Forst</a:t>
            </a:r>
            <a:r>
              <a:rPr lang="zh-CN" altLang="en-US" dirty="0">
                <a:solidFill>
                  <a:schemeClr val="bg1"/>
                </a:solidFill>
                <a:latin typeface="Aptos" panose="020B0004020202020204" pitchFamily="34" charset="0"/>
              </a:rPr>
              <a:t>。</a:t>
            </a:r>
            <a:br>
              <a:rPr lang="en-US" altLang="zh-CN" dirty="0">
                <a:solidFill>
                  <a:schemeClr val="bg1"/>
                </a:solidFill>
                <a:latin typeface="Aptos" panose="020B0004020202020204" pitchFamily="34" charset="0"/>
              </a:rPr>
            </a:br>
            <a:r>
              <a:rPr lang="zh-CN" altLang="en-US" dirty="0">
                <a:solidFill>
                  <a:schemeClr val="bg1"/>
                </a:solidFill>
                <a:latin typeface="Aptos" panose="020B0004020202020204" pitchFamily="34" charset="0"/>
              </a:rPr>
              <a:t>路线向南出发，以自行车道，乡间小路和</a:t>
            </a:r>
            <a:r>
              <a:rPr lang="en-US" altLang="zh-CN" dirty="0">
                <a:solidFill>
                  <a:schemeClr val="bg1"/>
                </a:solidFill>
                <a:latin typeface="Aptos" panose="020B0004020202020204" pitchFamily="34" charset="0"/>
              </a:rPr>
              <a:t>Land</a:t>
            </a:r>
            <a:r>
              <a:rPr lang="es-ES" altLang="zh-CN" dirty="0" err="1">
                <a:solidFill>
                  <a:schemeClr val="bg1"/>
                </a:solidFill>
                <a:latin typeface="Aptos" panose="020B0004020202020204" pitchFamily="34" charset="0"/>
              </a:rPr>
              <a:t>stra</a:t>
            </a:r>
            <a:r>
              <a:rPr lang="de-DE" altLang="zh-CN" dirty="0" err="1">
                <a:solidFill>
                  <a:schemeClr val="bg1"/>
                </a:solidFill>
                <a:latin typeface="Aptos" panose="020B0004020202020204" pitchFamily="34" charset="0"/>
              </a:rPr>
              <a:t>ße</a:t>
            </a:r>
            <a:r>
              <a:rPr lang="zh-CN" altLang="en-US" dirty="0">
                <a:solidFill>
                  <a:schemeClr val="bg1"/>
                </a:solidFill>
                <a:latin typeface="Aptos" panose="020B0004020202020204" pitchFamily="34" charset="0"/>
              </a:rPr>
              <a:t>为主，汽车很少，基本没有红绿灯。</a:t>
            </a:r>
            <a:endParaRPr lang="en-US" altLang="zh-CN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Aptos" panose="020B0004020202020204" pitchFamily="34" charset="0"/>
              </a:rPr>
              <a:t>沿途风景美丽穿越森林，可以看到阿尔卑斯山。</a:t>
            </a:r>
            <a:endParaRPr lang="en-US" altLang="zh-CN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en-US" altLang="zh-CN" b="1" dirty="0">
                <a:solidFill>
                  <a:schemeClr val="bg1"/>
                </a:solidFill>
                <a:latin typeface="Aptos" panose="020B0004020202020204" pitchFamily="34" charset="0"/>
              </a:rPr>
              <a:t>2. </a:t>
            </a:r>
            <a:r>
              <a:rPr lang="zh-CN" altLang="en-US" b="1" dirty="0">
                <a:solidFill>
                  <a:schemeClr val="bg1"/>
                </a:solidFill>
                <a:latin typeface="Aptos" panose="020B0004020202020204" pitchFamily="34" charset="0"/>
              </a:rPr>
              <a:t>路线信息</a:t>
            </a:r>
            <a:endParaRPr lang="en-US" altLang="zh-CN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Aptos" panose="020B0004020202020204" pitchFamily="34" charset="0"/>
              </a:rPr>
              <a:t>距离：</a:t>
            </a:r>
            <a:r>
              <a:rPr lang="es-ES" altLang="zh-CN" dirty="0">
                <a:solidFill>
                  <a:schemeClr val="bg1"/>
                </a:solidFill>
                <a:latin typeface="Aptos" panose="020B0004020202020204" pitchFamily="34" charset="0"/>
              </a:rPr>
              <a:t>69.89 </a:t>
            </a:r>
            <a:r>
              <a:rPr lang="en-US" altLang="zh-CN" dirty="0">
                <a:solidFill>
                  <a:schemeClr val="bg1"/>
                </a:solidFill>
                <a:latin typeface="Aptos" panose="020B0004020202020204" pitchFamily="34" charset="0"/>
              </a:rPr>
              <a:t>km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Aptos" panose="020B0004020202020204" pitchFamily="34" charset="0"/>
              </a:rPr>
              <a:t>爬升：</a:t>
            </a:r>
            <a:r>
              <a:rPr lang="en-US" altLang="zh-CN" dirty="0">
                <a:solidFill>
                  <a:schemeClr val="bg1"/>
                </a:solidFill>
                <a:latin typeface="Aptos" panose="020B0004020202020204" pitchFamily="34" charset="0"/>
              </a:rPr>
              <a:t>569 m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	</a:t>
            </a:r>
          </a:p>
          <a:p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</a:rPr>
              <a:t>3. </a:t>
            </a:r>
            <a:r>
              <a:rPr lang="zh-CN" altLang="en-US" b="1" dirty="0">
                <a:solidFill>
                  <a:schemeClr val="bg1"/>
                </a:solidFill>
                <a:latin typeface="Aptos" panose="020B0004020202020204" pitchFamily="34" charset="0"/>
              </a:rPr>
              <a:t>衍生路线 </a:t>
            </a:r>
            <a:r>
              <a:rPr lang="zh-CN" altLang="en-US" dirty="0">
                <a:solidFill>
                  <a:schemeClr val="bg1"/>
                </a:solidFill>
                <a:latin typeface="Aptos" panose="020B0004020202020204" pitchFamily="34" charset="0"/>
              </a:rPr>
              <a:t>（均为熟悉且有经验的路线</a:t>
            </a:r>
            <a:r>
              <a:rPr lang="es-ES" altLang="zh-CN" dirty="0">
                <a:solidFill>
                  <a:schemeClr val="bg1"/>
                </a:solidFill>
                <a:latin typeface="Aptos" panose="020B0004020202020204" pitchFamily="34" charset="0"/>
              </a:rPr>
              <a:t>)</a:t>
            </a:r>
            <a:br>
              <a:rPr lang="es-ES" altLang="zh-CN" dirty="0">
                <a:solidFill>
                  <a:schemeClr val="bg1"/>
                </a:solidFill>
                <a:latin typeface="Aptos" panose="020B0004020202020204" pitchFamily="34" charset="0"/>
              </a:rPr>
            </a:br>
            <a:endParaRPr lang="en-US" altLang="zh-CN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Aptos" panose="020B0004020202020204" pitchFamily="34" charset="0"/>
              </a:rPr>
              <a:t>此路线可按照需求加长或简短。最短</a:t>
            </a:r>
            <a:r>
              <a:rPr lang="en-US" altLang="zh-CN" dirty="0">
                <a:solidFill>
                  <a:schemeClr val="bg1"/>
                </a:solidFill>
                <a:latin typeface="Aptos" panose="020B0004020202020204" pitchFamily="34" charset="0"/>
              </a:rPr>
              <a:t>50</a:t>
            </a:r>
            <a:r>
              <a:rPr lang="zh-CN" altLang="en-US" dirty="0">
                <a:solidFill>
                  <a:schemeClr val="bg1"/>
                </a:solidFill>
                <a:latin typeface="Aptos" panose="020B0004020202020204" pitchFamily="34" charset="0"/>
              </a:rPr>
              <a:t>公里左右，路线可以加长至</a:t>
            </a:r>
            <a:r>
              <a:rPr lang="en-US" altLang="zh-CN" dirty="0">
                <a:solidFill>
                  <a:schemeClr val="bg1"/>
                </a:solidFill>
                <a:latin typeface="Aptos" panose="020B0004020202020204" pitchFamily="34" charset="0"/>
              </a:rPr>
              <a:t>80-90</a:t>
            </a:r>
            <a:r>
              <a:rPr lang="zh-CN" altLang="en-US" dirty="0">
                <a:solidFill>
                  <a:schemeClr val="bg1"/>
                </a:solidFill>
                <a:latin typeface="Aptos" panose="020B0004020202020204" pitchFamily="34" charset="0"/>
              </a:rPr>
              <a:t>公里</a:t>
            </a:r>
            <a:r>
              <a:rPr lang="zh-CN" altLang="en-US" dirty="0"/>
              <a:t>。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7446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3000" r="-3000" b="1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5C38B5-9E91-D6D3-43D3-3534C8345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DB19AA-B1F4-164D-EC9E-949FA55C5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841660"/>
            <a:ext cx="5601810" cy="101634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D40DFB5-CFE5-1B8F-CE1A-582ADED9A3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2000">
                <a:srgbClr val="99BE70">
                  <a:alpha val="0"/>
                </a:srgbClr>
              </a:gs>
              <a:gs pos="54000">
                <a:schemeClr val="tx1">
                  <a:lumMod val="69000"/>
                  <a:alpha val="82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701D41-6BF4-27ED-0905-6A665D9C4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063" y="250395"/>
            <a:ext cx="2017104" cy="678670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solidFill>
                  <a:srgbClr val="DF3F1F"/>
                </a:solidFill>
              </a:rPr>
              <a:t>Route 2</a:t>
            </a:r>
            <a:endParaRPr lang="de-DE" b="1" dirty="0">
              <a:solidFill>
                <a:srgbClr val="DF3F1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BFCF3F-51C9-BDFE-311F-3C65CA5A9DFD}"/>
              </a:ext>
            </a:extLst>
          </p:cNvPr>
          <p:cNvSpPr txBox="1"/>
          <p:nvPr/>
        </p:nvSpPr>
        <p:spPr>
          <a:xfrm>
            <a:off x="6170063" y="1099007"/>
            <a:ext cx="584871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ptos" panose="020B0004020202020204" pitchFamily="34" charset="0"/>
              </a:rPr>
              <a:t>1. </a:t>
            </a:r>
            <a:r>
              <a:rPr lang="zh-CN" altLang="en-US" b="1" dirty="0">
                <a:solidFill>
                  <a:schemeClr val="bg1"/>
                </a:solidFill>
                <a:latin typeface="Aptos" panose="020B0004020202020204" pitchFamily="34" charset="0"/>
              </a:rPr>
              <a:t>路线描述</a:t>
            </a:r>
            <a:endParaRPr lang="en-US" altLang="zh-CN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Aptos" panose="020B0004020202020204" pitchFamily="34" charset="0"/>
              </a:rPr>
              <a:t>路线开始于慕尼黑骑行经典始发地 </a:t>
            </a:r>
            <a:r>
              <a:rPr lang="en-US" altLang="zh-CN" dirty="0" err="1">
                <a:solidFill>
                  <a:schemeClr val="bg1"/>
                </a:solidFill>
                <a:latin typeface="Aptos" panose="020B0004020202020204" pitchFamily="34" charset="0"/>
              </a:rPr>
              <a:t>Perlacher</a:t>
            </a:r>
            <a:r>
              <a:rPr lang="en-US" altLang="zh-CN" dirty="0">
                <a:solidFill>
                  <a:schemeClr val="bg1"/>
                </a:solidFill>
                <a:latin typeface="Aptos" panose="020B0004020202020204" pitchFamily="34" charset="0"/>
              </a:rPr>
              <a:t> Forst</a:t>
            </a:r>
            <a:r>
              <a:rPr lang="zh-CN" altLang="en-US" dirty="0">
                <a:solidFill>
                  <a:schemeClr val="bg1"/>
                </a:solidFill>
                <a:latin typeface="Aptos" panose="020B0004020202020204" pitchFamily="34" charset="0"/>
              </a:rPr>
              <a:t>。途径网红小坡顶</a:t>
            </a:r>
            <a:r>
              <a:rPr lang="en-US" altLang="zh-CN" dirty="0" err="1">
                <a:solidFill>
                  <a:schemeClr val="bg1"/>
                </a:solidFill>
                <a:latin typeface="Aptos" panose="020B0004020202020204" pitchFamily="34" charset="0"/>
              </a:rPr>
              <a:t>Ludwigsh</a:t>
            </a:r>
            <a:r>
              <a:rPr lang="de-DE" altLang="zh-CN" dirty="0" err="1">
                <a:solidFill>
                  <a:schemeClr val="bg1"/>
                </a:solidFill>
                <a:latin typeface="Aptos" panose="020B0004020202020204" pitchFamily="34" charset="0"/>
              </a:rPr>
              <a:t>öhe</a:t>
            </a:r>
            <a:r>
              <a:rPr lang="de-DE" altLang="zh-CN" dirty="0">
                <a:solidFill>
                  <a:schemeClr val="bg1"/>
                </a:solidFill>
                <a:latin typeface="Aptos" panose="020B0004020202020204" pitchFamily="34" charset="0"/>
              </a:rPr>
              <a:t>, </a:t>
            </a:r>
            <a:r>
              <a:rPr lang="zh-CN" altLang="en-US" dirty="0">
                <a:solidFill>
                  <a:schemeClr val="bg1"/>
                </a:solidFill>
                <a:latin typeface="Aptos" panose="020B0004020202020204" pitchFamily="34" charset="0"/>
              </a:rPr>
              <a:t>此处雪山风景一览无余</a:t>
            </a:r>
            <a:r>
              <a:rPr lang="de-DE" altLang="zh-CN" dirty="0">
                <a:solidFill>
                  <a:schemeClr val="bg1"/>
                </a:solidFill>
                <a:latin typeface="Aptos" panose="020B0004020202020204" pitchFamily="34" charset="0"/>
              </a:rPr>
              <a:t>,</a:t>
            </a:r>
            <a:r>
              <a:rPr lang="zh-CN" altLang="en-US" dirty="0">
                <a:solidFill>
                  <a:schemeClr val="bg1"/>
                </a:solidFill>
                <a:latin typeface="Aptos" panose="020B0004020202020204" pitchFamily="34" charset="0"/>
              </a:rPr>
              <a:t>是众多骑行爱好者必经之路。此路线还会经过著名爬坡</a:t>
            </a:r>
            <a:r>
              <a:rPr lang="es-ES" altLang="zh-CN" dirty="0" err="1">
                <a:solidFill>
                  <a:schemeClr val="bg1"/>
                </a:solidFill>
                <a:latin typeface="Aptos" panose="020B0004020202020204" pitchFamily="34" charset="0"/>
              </a:rPr>
              <a:t>Sch</a:t>
            </a:r>
            <a:r>
              <a:rPr lang="de-DE" altLang="zh-CN" dirty="0" err="1">
                <a:solidFill>
                  <a:schemeClr val="bg1"/>
                </a:solidFill>
                <a:latin typeface="Aptos" panose="020B0004020202020204" pitchFamily="34" charset="0"/>
              </a:rPr>
              <a:t>äftlarn</a:t>
            </a:r>
            <a:r>
              <a:rPr lang="de-DE" altLang="zh-CN" dirty="0">
                <a:solidFill>
                  <a:schemeClr val="bg1"/>
                </a:solidFill>
                <a:latin typeface="Aptos" panose="020B0004020202020204" pitchFamily="34" charset="0"/>
              </a:rPr>
              <a:t>, </a:t>
            </a:r>
            <a:r>
              <a:rPr lang="zh-CN" altLang="en-US" dirty="0">
                <a:solidFill>
                  <a:schemeClr val="bg1"/>
                </a:solidFill>
                <a:latin typeface="Aptos" panose="020B0004020202020204" pitchFamily="34" charset="0"/>
              </a:rPr>
              <a:t>适合挑战自己。最后经过</a:t>
            </a:r>
            <a:r>
              <a:rPr lang="en-US" altLang="zh-CN" dirty="0">
                <a:solidFill>
                  <a:schemeClr val="bg1"/>
                </a:solidFill>
                <a:latin typeface="Aptos" panose="020B0004020202020204" pitchFamily="34" charset="0"/>
              </a:rPr>
              <a:t>Olympia Stra</a:t>
            </a:r>
            <a:r>
              <a:rPr lang="de-DE" altLang="zh-CN" dirty="0" err="1">
                <a:solidFill>
                  <a:schemeClr val="bg1"/>
                </a:solidFill>
                <a:latin typeface="Aptos" panose="020B0004020202020204" pitchFamily="34" charset="0"/>
              </a:rPr>
              <a:t>ße</a:t>
            </a:r>
            <a:r>
              <a:rPr lang="de-DE" altLang="zh-CN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Aptos" panose="020B0004020202020204" pitchFamily="34" charset="0"/>
              </a:rPr>
              <a:t>回到慕尼黑。</a:t>
            </a:r>
            <a:br>
              <a:rPr lang="en-US" altLang="zh-CN" dirty="0">
                <a:solidFill>
                  <a:schemeClr val="bg1"/>
                </a:solidFill>
                <a:latin typeface="Aptos" panose="020B0004020202020204" pitchFamily="34" charset="0"/>
              </a:rPr>
            </a:b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en-US" altLang="zh-CN" b="1" dirty="0">
                <a:solidFill>
                  <a:schemeClr val="bg1"/>
                </a:solidFill>
                <a:latin typeface="Aptos" panose="020B0004020202020204" pitchFamily="34" charset="0"/>
              </a:rPr>
              <a:t>2. </a:t>
            </a:r>
            <a:r>
              <a:rPr lang="zh-CN" altLang="en-US" b="1" dirty="0">
                <a:solidFill>
                  <a:schemeClr val="bg1"/>
                </a:solidFill>
                <a:latin typeface="Aptos" panose="020B0004020202020204" pitchFamily="34" charset="0"/>
              </a:rPr>
              <a:t>路线信息</a:t>
            </a:r>
            <a:endParaRPr lang="en-US" altLang="zh-CN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Aptos" panose="020B0004020202020204" pitchFamily="34" charset="0"/>
              </a:rPr>
              <a:t>距离：</a:t>
            </a:r>
            <a:r>
              <a:rPr lang="es-ES" altLang="zh-CN" dirty="0">
                <a:solidFill>
                  <a:schemeClr val="bg1"/>
                </a:solidFill>
                <a:latin typeface="Aptos" panose="020B0004020202020204" pitchFamily="34" charset="0"/>
              </a:rPr>
              <a:t>5</a:t>
            </a:r>
            <a:r>
              <a:rPr lang="de-DE" altLang="zh-CN" dirty="0">
                <a:solidFill>
                  <a:schemeClr val="bg1"/>
                </a:solidFill>
                <a:latin typeface="Aptos" panose="020B0004020202020204" pitchFamily="34" charset="0"/>
              </a:rPr>
              <a:t>2,21</a:t>
            </a:r>
            <a:r>
              <a:rPr lang="es-ES" altLang="zh-CN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" panose="020B0004020202020204" pitchFamily="34" charset="0"/>
              </a:rPr>
              <a:t>km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Aptos" panose="020B0004020202020204" pitchFamily="34" charset="0"/>
              </a:rPr>
              <a:t>爬升：</a:t>
            </a:r>
            <a:r>
              <a:rPr lang="en-US" altLang="zh-CN" dirty="0">
                <a:solidFill>
                  <a:schemeClr val="bg1"/>
                </a:solidFill>
                <a:latin typeface="Aptos" panose="020B0004020202020204" pitchFamily="34" charset="0"/>
              </a:rPr>
              <a:t>442 m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	</a:t>
            </a:r>
          </a:p>
          <a:p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</a:rPr>
              <a:t>3. </a:t>
            </a:r>
            <a:r>
              <a:rPr lang="zh-CN" altLang="en-US" b="1" dirty="0">
                <a:solidFill>
                  <a:schemeClr val="bg1"/>
                </a:solidFill>
                <a:latin typeface="Aptos" panose="020B0004020202020204" pitchFamily="34" charset="0"/>
              </a:rPr>
              <a:t>衍生路线 </a:t>
            </a:r>
            <a:r>
              <a:rPr lang="zh-CN" altLang="en-US" dirty="0">
                <a:solidFill>
                  <a:schemeClr val="bg1"/>
                </a:solidFill>
                <a:latin typeface="Aptos" panose="020B0004020202020204" pitchFamily="34" charset="0"/>
              </a:rPr>
              <a:t>（均为熟悉且有经验的路线</a:t>
            </a:r>
            <a:r>
              <a:rPr lang="es-ES" altLang="zh-CN" dirty="0">
                <a:solidFill>
                  <a:schemeClr val="bg1"/>
                </a:solidFill>
                <a:latin typeface="Aptos" panose="020B0004020202020204" pitchFamily="34" charset="0"/>
              </a:rPr>
              <a:t>)</a:t>
            </a:r>
            <a:br>
              <a:rPr lang="es-ES" altLang="zh-CN" dirty="0">
                <a:solidFill>
                  <a:schemeClr val="bg1"/>
                </a:solidFill>
                <a:latin typeface="Aptos" panose="020B0004020202020204" pitchFamily="34" charset="0"/>
              </a:rPr>
            </a:br>
            <a:endParaRPr lang="en-US" altLang="zh-CN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Aptos" panose="020B0004020202020204" pitchFamily="34" charset="0"/>
              </a:rPr>
              <a:t>此路线可按照需求加长或简短。最短</a:t>
            </a:r>
            <a:r>
              <a:rPr lang="en-US" altLang="zh-CN" dirty="0">
                <a:solidFill>
                  <a:schemeClr val="bg1"/>
                </a:solidFill>
                <a:latin typeface="Aptos" panose="020B0004020202020204" pitchFamily="34" charset="0"/>
              </a:rPr>
              <a:t>50</a:t>
            </a:r>
            <a:r>
              <a:rPr lang="zh-CN" altLang="en-US" dirty="0">
                <a:solidFill>
                  <a:schemeClr val="bg1"/>
                </a:solidFill>
                <a:latin typeface="Aptos" panose="020B0004020202020204" pitchFamily="34" charset="0"/>
              </a:rPr>
              <a:t>公里左右，路线可以加长至</a:t>
            </a:r>
            <a:r>
              <a:rPr lang="en-US" altLang="zh-CN" dirty="0">
                <a:solidFill>
                  <a:schemeClr val="bg1"/>
                </a:solidFill>
                <a:latin typeface="Aptos" panose="020B0004020202020204" pitchFamily="34" charset="0"/>
              </a:rPr>
              <a:t>80-90</a:t>
            </a:r>
            <a:r>
              <a:rPr lang="zh-CN" altLang="en-US" dirty="0">
                <a:solidFill>
                  <a:schemeClr val="bg1"/>
                </a:solidFill>
                <a:latin typeface="Aptos" panose="020B0004020202020204" pitchFamily="34" charset="0"/>
              </a:rPr>
              <a:t>公里</a:t>
            </a:r>
            <a:r>
              <a:rPr lang="zh-CN" altLang="en-US" dirty="0"/>
              <a:t>。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3647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E5EFB6B-F907-15C0-AF73-2355D84B0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84535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B90C9AD-4AD3-FAF5-1220-E90002C9EF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4000">
                <a:srgbClr val="99BE70">
                  <a:alpha val="0"/>
                </a:srgbClr>
              </a:gs>
              <a:gs pos="38000">
                <a:schemeClr val="tx1">
                  <a:lumMod val="69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193910-8EAE-E4A6-4B97-4D7E26037C3F}"/>
              </a:ext>
            </a:extLst>
          </p:cNvPr>
          <p:cNvSpPr txBox="1"/>
          <p:nvPr/>
        </p:nvSpPr>
        <p:spPr>
          <a:xfrm>
            <a:off x="8721306" y="3198167"/>
            <a:ext cx="3683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衍生路线总览</a:t>
            </a:r>
            <a:endParaRPr lang="de-DE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294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4A5FEF-CEE2-235E-CE85-95679E6DA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614863" cy="586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9189BE-4CFA-5DE6-8756-FF5B9C43D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47791"/>
            <a:ext cx="12192000" cy="9102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289496-F506-490F-78AE-1122EC2910A2}"/>
              </a:ext>
            </a:extLst>
          </p:cNvPr>
          <p:cNvSpPr txBox="1"/>
          <p:nvPr/>
        </p:nvSpPr>
        <p:spPr>
          <a:xfrm>
            <a:off x="5299127" y="470747"/>
            <a:ext cx="590218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周末长距离路线 </a:t>
            </a:r>
            <a:r>
              <a:rPr lang="en-US" altLang="zh-CN" sz="2000" b="1" dirty="0" err="1"/>
              <a:t>Spitzing</a:t>
            </a:r>
            <a:r>
              <a:rPr lang="en-US" altLang="zh-CN" sz="2000" b="1" dirty="0"/>
              <a:t> See</a:t>
            </a:r>
            <a:r>
              <a:rPr lang="zh-CN" altLang="en-US" sz="2000" b="1" dirty="0"/>
              <a:t>（</a:t>
            </a:r>
            <a:r>
              <a:rPr lang="en-US" altLang="zh-CN" sz="2000" b="1" dirty="0" err="1"/>
              <a:t>Valepp</a:t>
            </a:r>
            <a:r>
              <a:rPr lang="en-US" altLang="zh-CN" sz="2000" b="1" dirty="0"/>
              <a:t> Runde</a:t>
            </a:r>
            <a:r>
              <a:rPr lang="zh-CN" altLang="en-US" sz="2000" b="1" dirty="0"/>
              <a:t>）</a:t>
            </a:r>
            <a:endParaRPr lang="en-US" dirty="0"/>
          </a:p>
          <a:p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6CBF53-08DF-2BAD-799B-904D679CAF63}"/>
              </a:ext>
            </a:extLst>
          </p:cNvPr>
          <p:cNvSpPr txBox="1"/>
          <p:nvPr/>
        </p:nvSpPr>
        <p:spPr>
          <a:xfrm>
            <a:off x="5299127" y="997509"/>
            <a:ext cx="609719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Aptos" panose="020B0004020202020204" pitchFamily="34" charset="0"/>
              </a:rPr>
              <a:t>1. </a:t>
            </a:r>
            <a:r>
              <a:rPr lang="zh-CN" altLang="en-US" b="1" dirty="0">
                <a:latin typeface="Aptos" panose="020B0004020202020204" pitchFamily="34" charset="0"/>
              </a:rPr>
              <a:t>路线描述</a:t>
            </a:r>
            <a:endParaRPr lang="en-US" altLang="zh-CN" b="1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zh-CN" altLang="en-US" dirty="0">
                <a:latin typeface="Aptos" panose="020B0004020202020204" pitchFamily="34" charset="0"/>
              </a:rPr>
              <a:t>路线开始于慕尼黑骑行经典始发地 </a:t>
            </a:r>
            <a:r>
              <a:rPr lang="en-US" altLang="zh-CN" dirty="0" err="1">
                <a:latin typeface="Aptos" panose="020B0004020202020204" pitchFamily="34" charset="0"/>
              </a:rPr>
              <a:t>Perlacher</a:t>
            </a:r>
            <a:r>
              <a:rPr lang="en-US" altLang="zh-CN" dirty="0">
                <a:latin typeface="Aptos" panose="020B0004020202020204" pitchFamily="34" charset="0"/>
              </a:rPr>
              <a:t> Forst</a:t>
            </a:r>
            <a:r>
              <a:rPr lang="zh-CN" altLang="en-US" dirty="0">
                <a:latin typeface="Aptos" panose="020B0004020202020204" pitchFamily="34" charset="0"/>
              </a:rPr>
              <a:t>。一路向南进山，以自行车道，乡间小路和</a:t>
            </a:r>
            <a:r>
              <a:rPr lang="en-US" altLang="zh-CN" dirty="0">
                <a:latin typeface="Aptos" panose="020B0004020202020204" pitchFamily="34" charset="0"/>
              </a:rPr>
              <a:t>Land</a:t>
            </a:r>
            <a:r>
              <a:rPr lang="es-ES" altLang="zh-CN" dirty="0" err="1">
                <a:latin typeface="Aptos" panose="020B0004020202020204" pitchFamily="34" charset="0"/>
              </a:rPr>
              <a:t>stra</a:t>
            </a:r>
            <a:r>
              <a:rPr lang="de-DE" altLang="zh-CN" dirty="0" err="1">
                <a:latin typeface="Aptos" panose="020B0004020202020204" pitchFamily="34" charset="0"/>
              </a:rPr>
              <a:t>ße</a:t>
            </a:r>
            <a:r>
              <a:rPr lang="zh-CN" altLang="en-US" dirty="0">
                <a:latin typeface="Aptos" panose="020B0004020202020204" pitchFamily="34" charset="0"/>
              </a:rPr>
              <a:t>为主，有时需注意交通。沿途风景美丽，会经过</a:t>
            </a:r>
            <a:r>
              <a:rPr lang="es-ES" altLang="zh-CN" dirty="0" err="1">
                <a:latin typeface="Aptos" panose="020B0004020202020204" pitchFamily="34" charset="0"/>
              </a:rPr>
              <a:t>Schliersee</a:t>
            </a:r>
            <a:r>
              <a:rPr lang="es-ES" altLang="zh-CN" dirty="0">
                <a:latin typeface="Aptos" panose="020B0004020202020204" pitchFamily="34" charset="0"/>
              </a:rPr>
              <a:t>, </a:t>
            </a:r>
            <a:r>
              <a:rPr lang="es-ES" altLang="zh-CN" dirty="0" err="1">
                <a:latin typeface="Aptos" panose="020B0004020202020204" pitchFamily="34" charset="0"/>
              </a:rPr>
              <a:t>Spitzing</a:t>
            </a:r>
            <a:r>
              <a:rPr lang="es-ES" altLang="zh-CN" dirty="0">
                <a:latin typeface="Aptos" panose="020B0004020202020204" pitchFamily="34" charset="0"/>
              </a:rPr>
              <a:t> </a:t>
            </a:r>
            <a:r>
              <a:rPr lang="es-ES" altLang="zh-CN" dirty="0" err="1">
                <a:latin typeface="Aptos" panose="020B0004020202020204" pitchFamily="34" charset="0"/>
              </a:rPr>
              <a:t>See</a:t>
            </a:r>
            <a:r>
              <a:rPr lang="es-ES" altLang="zh-CN" dirty="0">
                <a:latin typeface="Aptos" panose="020B0004020202020204" pitchFamily="34" charset="0"/>
              </a:rPr>
              <a:t> </a:t>
            </a:r>
            <a:r>
              <a:rPr lang="zh-CN" altLang="en-US" dirty="0">
                <a:latin typeface="Aptos" panose="020B0004020202020204" pitchFamily="34" charset="0"/>
              </a:rPr>
              <a:t>和 </a:t>
            </a:r>
            <a:r>
              <a:rPr lang="en-US" altLang="zh-CN" dirty="0">
                <a:latin typeface="Aptos" panose="020B0004020202020204" pitchFamily="34" charset="0"/>
              </a:rPr>
              <a:t>Tegernsee</a:t>
            </a:r>
            <a:r>
              <a:rPr lang="zh-CN" altLang="en-US" dirty="0">
                <a:latin typeface="Aptos" panose="020B0004020202020204" pitchFamily="34" charset="0"/>
              </a:rPr>
              <a:t>。此路线对体力有一定要求，有一个二级坡。</a:t>
            </a:r>
            <a:r>
              <a:rPr lang="es-ES" altLang="zh-CN" dirty="0" err="1">
                <a:latin typeface="Aptos" panose="020B0004020202020204" pitchFamily="34" charset="0"/>
              </a:rPr>
              <a:t>Tegernsee</a:t>
            </a:r>
            <a:r>
              <a:rPr lang="es-ES" altLang="zh-CN" dirty="0">
                <a:latin typeface="Aptos" panose="020B0004020202020204" pitchFamily="34" charset="0"/>
              </a:rPr>
              <a:t> </a:t>
            </a:r>
            <a:r>
              <a:rPr lang="zh-CN" altLang="en-US" dirty="0">
                <a:latin typeface="Aptos" panose="020B0004020202020204" pitchFamily="34" charset="0"/>
              </a:rPr>
              <a:t>可以乘坐</a:t>
            </a:r>
            <a:r>
              <a:rPr lang="en-US" altLang="zh-CN" dirty="0">
                <a:latin typeface="Aptos" panose="020B0004020202020204" pitchFamily="34" charset="0"/>
              </a:rPr>
              <a:t>S-</a:t>
            </a:r>
            <a:r>
              <a:rPr lang="en-US" altLang="zh-CN" dirty="0" err="1">
                <a:latin typeface="Aptos" panose="020B0004020202020204" pitchFamily="34" charset="0"/>
              </a:rPr>
              <a:t>bahn</a:t>
            </a:r>
            <a:r>
              <a:rPr lang="zh-CN" altLang="en-US" dirty="0">
                <a:latin typeface="Aptos" panose="020B0004020202020204" pitchFamily="34" charset="0"/>
              </a:rPr>
              <a:t>回慕尼黑。</a:t>
            </a:r>
            <a:endParaRPr lang="en-US" altLang="zh-CN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altLang="zh-CN" b="1" dirty="0">
                <a:latin typeface="Aptos" panose="020B0004020202020204" pitchFamily="34" charset="0"/>
              </a:rPr>
              <a:t>2. </a:t>
            </a:r>
            <a:r>
              <a:rPr lang="zh-CN" altLang="en-US" b="1" dirty="0">
                <a:latin typeface="Aptos" panose="020B0004020202020204" pitchFamily="34" charset="0"/>
              </a:rPr>
              <a:t>路线信息</a:t>
            </a:r>
            <a:endParaRPr lang="en-US" altLang="zh-CN" b="1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zh-CN" altLang="en-US" dirty="0">
                <a:latin typeface="Aptos" panose="020B0004020202020204" pitchFamily="34" charset="0"/>
              </a:rPr>
              <a:t>距离：</a:t>
            </a:r>
            <a:r>
              <a:rPr lang="es-ES" altLang="zh-CN" dirty="0">
                <a:latin typeface="Aptos" panose="020B0004020202020204" pitchFamily="34" charset="0"/>
              </a:rPr>
              <a:t>137</a:t>
            </a:r>
            <a:r>
              <a:rPr lang="de-DE" altLang="zh-CN" dirty="0">
                <a:latin typeface="Aptos" panose="020B0004020202020204" pitchFamily="34" charset="0"/>
              </a:rPr>
              <a:t>,53</a:t>
            </a:r>
            <a:r>
              <a:rPr lang="es-ES" altLang="zh-CN" dirty="0">
                <a:latin typeface="Aptos" panose="020B0004020202020204" pitchFamily="34" charset="0"/>
              </a:rPr>
              <a:t> </a:t>
            </a:r>
            <a:r>
              <a:rPr lang="en-US" altLang="zh-CN" dirty="0">
                <a:latin typeface="Aptos" panose="020B0004020202020204" pitchFamily="34" charset="0"/>
              </a:rPr>
              <a:t>km</a:t>
            </a:r>
            <a:endParaRPr lang="en-US" dirty="0">
              <a:latin typeface="Aptos" panose="020B0004020202020204" pitchFamily="34" charset="0"/>
            </a:endParaRPr>
          </a:p>
          <a:p>
            <a:r>
              <a:rPr lang="zh-CN" altLang="en-US" dirty="0">
                <a:latin typeface="Aptos" panose="020B0004020202020204" pitchFamily="34" charset="0"/>
              </a:rPr>
              <a:t>爬升：</a:t>
            </a:r>
            <a:r>
              <a:rPr lang="en-US" altLang="zh-CN" dirty="0">
                <a:latin typeface="Aptos" panose="020B0004020202020204" pitchFamily="34" charset="0"/>
              </a:rPr>
              <a:t>1105 m</a:t>
            </a:r>
            <a:r>
              <a:rPr lang="en-US" dirty="0">
                <a:latin typeface="Aptos" panose="020B0004020202020204" pitchFamily="34" charset="0"/>
              </a:rPr>
              <a:t>	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5FAE550-32A2-8F39-8D80-F6ABC121BD0D}"/>
              </a:ext>
            </a:extLst>
          </p:cNvPr>
          <p:cNvCxnSpPr/>
          <p:nvPr/>
        </p:nvCxnSpPr>
        <p:spPr>
          <a:xfrm>
            <a:off x="5452533" y="5947791"/>
            <a:ext cx="223520" cy="4394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0E6D28B-9DD4-26AD-EE75-88A8B8899413}"/>
              </a:ext>
            </a:extLst>
          </p:cNvPr>
          <p:cNvSpPr txBox="1"/>
          <p:nvPr/>
        </p:nvSpPr>
        <p:spPr>
          <a:xfrm>
            <a:off x="4768426" y="5675825"/>
            <a:ext cx="1469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Aptos" panose="020B0004020202020204" pitchFamily="34" charset="0"/>
              </a:rPr>
              <a:t>Cat</a:t>
            </a:r>
            <a:r>
              <a:rPr lang="es-ES" altLang="zh-CN" dirty="0">
                <a:latin typeface="Aptos" panose="020B0004020202020204" pitchFamily="34" charset="0"/>
              </a:rPr>
              <a:t>.2 Climb</a:t>
            </a:r>
            <a:endParaRPr lang="en-US" altLang="zh-C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615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DABB1-2943-58E5-D546-817000A58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282B289-55A0-40B4-CE2D-BC864AEF1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36959"/>
            <a:ext cx="12192000" cy="12210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3361E3-A2A3-FF7C-6ECF-6E8937FEB9AC}"/>
              </a:ext>
            </a:extLst>
          </p:cNvPr>
          <p:cNvSpPr txBox="1"/>
          <p:nvPr/>
        </p:nvSpPr>
        <p:spPr>
          <a:xfrm>
            <a:off x="6003554" y="433212"/>
            <a:ext cx="590218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周末长距离路线 </a:t>
            </a:r>
            <a:r>
              <a:rPr lang="es-ES" altLang="zh-CN" sz="2000" b="1" dirty="0" err="1"/>
              <a:t>Kufstein</a:t>
            </a:r>
            <a:r>
              <a:rPr lang="zh-CN" altLang="en-US" sz="2000" b="1" dirty="0"/>
              <a:t>周边</a:t>
            </a:r>
            <a:endParaRPr lang="en-US" dirty="0"/>
          </a:p>
          <a:p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0FBE5B-9604-71A0-B730-2D129DADC4A5}"/>
              </a:ext>
            </a:extLst>
          </p:cNvPr>
          <p:cNvSpPr txBox="1"/>
          <p:nvPr/>
        </p:nvSpPr>
        <p:spPr>
          <a:xfrm>
            <a:off x="6003554" y="1110320"/>
            <a:ext cx="609719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Aptos" panose="020B0004020202020204" pitchFamily="34" charset="0"/>
              </a:rPr>
              <a:t>1. </a:t>
            </a:r>
            <a:r>
              <a:rPr lang="zh-CN" altLang="en-US" b="1" dirty="0">
                <a:latin typeface="Aptos" panose="020B0004020202020204" pitchFamily="34" charset="0"/>
              </a:rPr>
              <a:t>路线描述</a:t>
            </a:r>
            <a:endParaRPr lang="en-US" altLang="zh-CN" b="1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zh-CN" altLang="en-US" dirty="0">
                <a:latin typeface="Aptos" panose="020B0004020202020204" pitchFamily="34" charset="0"/>
              </a:rPr>
              <a:t>路线开始于</a:t>
            </a:r>
            <a:r>
              <a:rPr lang="en-US" altLang="zh-CN" dirty="0">
                <a:latin typeface="Aptos" panose="020B0004020202020204" pitchFamily="34" charset="0"/>
              </a:rPr>
              <a:t>Rosenheim</a:t>
            </a:r>
            <a:r>
              <a:rPr lang="zh-CN" altLang="en-US" dirty="0">
                <a:latin typeface="Aptos" panose="020B0004020202020204" pitchFamily="34" charset="0"/>
              </a:rPr>
              <a:t>，需从慕尼黑</a:t>
            </a:r>
            <a:r>
              <a:rPr lang="en-US" altLang="zh-CN" dirty="0" err="1">
                <a:latin typeface="Aptos" panose="020B0004020202020204" pitchFamily="34" charset="0"/>
              </a:rPr>
              <a:t>Hbf</a:t>
            </a:r>
            <a:r>
              <a:rPr lang="zh-CN" altLang="en-US" dirty="0">
                <a:latin typeface="Aptos" panose="020B0004020202020204" pitchFamily="34" charset="0"/>
              </a:rPr>
              <a:t>乘坐</a:t>
            </a:r>
            <a:r>
              <a:rPr lang="en-US" altLang="zh-CN" dirty="0">
                <a:latin typeface="Aptos" panose="020B0004020202020204" pitchFamily="34" charset="0"/>
              </a:rPr>
              <a:t>BRB</a:t>
            </a:r>
            <a:r>
              <a:rPr lang="zh-CN" altLang="en-US" dirty="0">
                <a:latin typeface="Aptos" panose="020B0004020202020204" pitchFamily="34" charset="0"/>
              </a:rPr>
              <a:t>到达。一路向南进山，以自行车道，乡间小路和</a:t>
            </a:r>
            <a:r>
              <a:rPr lang="en-US" altLang="zh-CN" dirty="0">
                <a:latin typeface="Aptos" panose="020B0004020202020204" pitchFamily="34" charset="0"/>
              </a:rPr>
              <a:t>Land</a:t>
            </a:r>
            <a:r>
              <a:rPr lang="es-ES" altLang="zh-CN" dirty="0" err="1">
                <a:latin typeface="Aptos" panose="020B0004020202020204" pitchFamily="34" charset="0"/>
              </a:rPr>
              <a:t>stra</a:t>
            </a:r>
            <a:r>
              <a:rPr lang="de-DE" altLang="zh-CN" dirty="0" err="1">
                <a:latin typeface="Aptos" panose="020B0004020202020204" pitchFamily="34" charset="0"/>
              </a:rPr>
              <a:t>ße</a:t>
            </a:r>
            <a:r>
              <a:rPr lang="zh-CN" altLang="en-US" dirty="0">
                <a:latin typeface="Aptos" panose="020B0004020202020204" pitchFamily="34" charset="0"/>
              </a:rPr>
              <a:t>为主，需注意交通。沿途山谷风景美丽，会入境奥地利并经过</a:t>
            </a:r>
            <a:r>
              <a:rPr lang="en-US" altLang="zh-CN" dirty="0" err="1">
                <a:latin typeface="Aptos" panose="020B0004020202020204" pitchFamily="34" charset="0"/>
              </a:rPr>
              <a:t>Thiersee</a:t>
            </a:r>
            <a:r>
              <a:rPr lang="es-ES" altLang="zh-CN" dirty="0">
                <a:latin typeface="Aptos" panose="020B0004020202020204" pitchFamily="34" charset="0"/>
              </a:rPr>
              <a:t>, </a:t>
            </a:r>
            <a:r>
              <a:rPr lang="en-US" altLang="zh-CN" dirty="0" err="1">
                <a:latin typeface="Aptos" panose="020B0004020202020204" pitchFamily="34" charset="0"/>
              </a:rPr>
              <a:t>Kufstein</a:t>
            </a:r>
            <a:r>
              <a:rPr lang="zh-CN" altLang="en-US" dirty="0">
                <a:latin typeface="Aptos" panose="020B0004020202020204" pitchFamily="34" charset="0"/>
              </a:rPr>
              <a:t>和 </a:t>
            </a:r>
            <a:r>
              <a:rPr lang="en-US" altLang="zh-CN" dirty="0" err="1">
                <a:latin typeface="Aptos" panose="020B0004020202020204" pitchFamily="34" charset="0"/>
              </a:rPr>
              <a:t>Walchsee</a:t>
            </a:r>
            <a:r>
              <a:rPr lang="zh-CN" altLang="en-US" dirty="0">
                <a:latin typeface="Aptos" panose="020B0004020202020204" pitchFamily="34" charset="0"/>
              </a:rPr>
              <a:t>。此路线对体力要求偏高，有一个一级坡。此路线可按需简短。</a:t>
            </a:r>
            <a:endParaRPr lang="en-US" altLang="zh-CN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altLang="zh-CN" b="1" dirty="0">
                <a:latin typeface="Aptos" panose="020B0004020202020204" pitchFamily="34" charset="0"/>
              </a:rPr>
              <a:t>2. </a:t>
            </a:r>
            <a:r>
              <a:rPr lang="zh-CN" altLang="en-US" b="1" dirty="0">
                <a:latin typeface="Aptos" panose="020B0004020202020204" pitchFamily="34" charset="0"/>
              </a:rPr>
              <a:t>路线信息</a:t>
            </a:r>
            <a:endParaRPr lang="en-US" altLang="zh-CN" b="1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zh-CN" altLang="en-US" dirty="0">
                <a:latin typeface="Aptos" panose="020B0004020202020204" pitchFamily="34" charset="0"/>
              </a:rPr>
              <a:t>距离：</a:t>
            </a:r>
            <a:r>
              <a:rPr lang="en-US" altLang="zh-CN" dirty="0">
                <a:latin typeface="Aptos" panose="020B0004020202020204" pitchFamily="34" charset="0"/>
              </a:rPr>
              <a:t>122</a:t>
            </a:r>
            <a:r>
              <a:rPr lang="es-ES" altLang="zh-CN" dirty="0">
                <a:latin typeface="Aptos" panose="020B0004020202020204" pitchFamily="34" charset="0"/>
              </a:rPr>
              <a:t>,07 </a:t>
            </a:r>
            <a:r>
              <a:rPr lang="en-US" altLang="zh-CN" dirty="0">
                <a:latin typeface="Aptos" panose="020B0004020202020204" pitchFamily="34" charset="0"/>
              </a:rPr>
              <a:t>km</a:t>
            </a:r>
            <a:endParaRPr lang="en-US" dirty="0">
              <a:latin typeface="Aptos" panose="020B0004020202020204" pitchFamily="34" charset="0"/>
            </a:endParaRPr>
          </a:p>
          <a:p>
            <a:r>
              <a:rPr lang="zh-CN" altLang="en-US" dirty="0">
                <a:latin typeface="Aptos" panose="020B0004020202020204" pitchFamily="34" charset="0"/>
              </a:rPr>
              <a:t>爬升：</a:t>
            </a:r>
            <a:r>
              <a:rPr lang="en-US" altLang="zh-CN" dirty="0">
                <a:latin typeface="Aptos" panose="020B0004020202020204" pitchFamily="34" charset="0"/>
              </a:rPr>
              <a:t>1639 m</a:t>
            </a:r>
            <a:r>
              <a:rPr lang="en-US" dirty="0">
                <a:latin typeface="Aptos" panose="020B0004020202020204" pitchFamily="34" charset="0"/>
              </a:rPr>
              <a:t>	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658BF08-711E-91AF-81E3-24283DABC140}"/>
              </a:ext>
            </a:extLst>
          </p:cNvPr>
          <p:cNvCxnSpPr>
            <a:cxnSpLocks/>
          </p:cNvCxnSpPr>
          <p:nvPr/>
        </p:nvCxnSpPr>
        <p:spPr>
          <a:xfrm>
            <a:off x="2153920" y="5947791"/>
            <a:ext cx="352213" cy="2197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F26D704-CF91-7000-F1CE-217EFE0A888B}"/>
              </a:ext>
            </a:extLst>
          </p:cNvPr>
          <p:cNvSpPr txBox="1"/>
          <p:nvPr/>
        </p:nvSpPr>
        <p:spPr>
          <a:xfrm>
            <a:off x="812799" y="5763125"/>
            <a:ext cx="1469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Aptos" panose="020B0004020202020204" pitchFamily="34" charset="0"/>
              </a:rPr>
              <a:t>Cat</a:t>
            </a:r>
            <a:r>
              <a:rPr lang="es-ES" altLang="zh-CN" dirty="0">
                <a:latin typeface="Aptos" panose="020B0004020202020204" pitchFamily="34" charset="0"/>
              </a:rPr>
              <a:t>.1 Climb</a:t>
            </a:r>
            <a:endParaRPr lang="en-US" altLang="zh-CN" dirty="0">
              <a:latin typeface="Aptos" panose="020B00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3AAF62-BD4D-E0AE-41AF-748E6D94F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249333" cy="5637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375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DBAF7-CD17-CB93-3404-93E524A8D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053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备注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56596-4B20-5F90-C55F-31269A6C5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4845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CN" altLang="en-US" sz="2000" dirty="0"/>
              <a:t>可视情况每周中组织</a:t>
            </a:r>
            <a:r>
              <a:rPr lang="en-US" altLang="zh-CN" sz="2000" dirty="0"/>
              <a:t>1-2</a:t>
            </a:r>
            <a:r>
              <a:rPr lang="zh-CN" altLang="en-US" sz="2000" dirty="0"/>
              <a:t>次慕尼黑南部</a:t>
            </a:r>
            <a:r>
              <a:rPr lang="en-US" altLang="zh-CN" sz="2000" dirty="0"/>
              <a:t>afterwork</a:t>
            </a:r>
          </a:p>
          <a:p>
            <a:pPr marL="0" indent="0">
              <a:buNone/>
            </a:pPr>
            <a:r>
              <a:rPr lang="zh-CN" altLang="en-US" sz="2000" dirty="0"/>
              <a:t>一次为偏休闲，一次为偏训练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zh-CN" altLang="en-US" sz="2000" dirty="0"/>
              <a:t>问题</a:t>
            </a:r>
            <a:r>
              <a:rPr lang="es-ES" altLang="zh-CN" sz="2000" dirty="0"/>
              <a:t>:</a:t>
            </a:r>
            <a:br>
              <a:rPr lang="es-ES" altLang="zh-CN" sz="2000" dirty="0"/>
            </a:br>
            <a:br>
              <a:rPr lang="en-US" altLang="zh-CN" sz="2000" dirty="0"/>
            </a:br>
            <a:r>
              <a:rPr lang="en-US" altLang="zh-CN" sz="2000" dirty="0"/>
              <a:t>1. </a:t>
            </a:r>
            <a:r>
              <a:rPr lang="zh-CN" altLang="en-US" sz="2000" dirty="0"/>
              <a:t>南部普遍感觉骑友较少，总体积极性不高</a:t>
            </a:r>
            <a:endParaRPr lang="en-US" altLang="zh-CN" sz="2000" dirty="0"/>
          </a:p>
          <a:p>
            <a:pPr marL="0" indent="0">
              <a:buNone/>
            </a:pPr>
            <a:r>
              <a:rPr lang="en-US" sz="2000" dirty="0"/>
              <a:t>2. </a:t>
            </a:r>
            <a:r>
              <a:rPr lang="zh-CN" altLang="en-US" sz="2000" dirty="0"/>
              <a:t>之前组织太临时，需如会议所建议加提前量和计划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3.</a:t>
            </a:r>
            <a:r>
              <a:rPr lang="zh-CN" altLang="en-US" sz="2000" dirty="0"/>
              <a:t>可能固定化的骑行日</a:t>
            </a:r>
            <a:r>
              <a:rPr lang="es-ES" altLang="zh-CN" sz="2000" dirty="0"/>
              <a:t>(</a:t>
            </a:r>
            <a:r>
              <a:rPr lang="zh-CN" altLang="en-US" sz="2000" dirty="0"/>
              <a:t>像</a:t>
            </a:r>
            <a:r>
              <a:rPr lang="en-US" altLang="zh-CN" sz="2000" dirty="0"/>
              <a:t>3mills</a:t>
            </a:r>
            <a:r>
              <a:rPr lang="zh-CN" altLang="en-US" sz="2000" dirty="0"/>
              <a:t>的</a:t>
            </a:r>
            <a:r>
              <a:rPr lang="es-ES" altLang="zh-CN" sz="2000" dirty="0"/>
              <a:t>)</a:t>
            </a:r>
            <a:r>
              <a:rPr lang="zh-CN" altLang="en-US" sz="2000" dirty="0"/>
              <a:t>可以提高积极性</a:t>
            </a:r>
            <a:endParaRPr lang="en-US" altLang="zh-CN" sz="2000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sz="2000" dirty="0"/>
              <a:t>休假计划暂时未定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提供的路线均为本人认为风景和骑行体验综合最好的，</a:t>
            </a:r>
            <a:r>
              <a:rPr lang="zh-CN" altLang="en-US" sz="2000" dirty="0">
                <a:latin typeface="Aptos" panose="020B0004020202020204" pitchFamily="34" charset="0"/>
              </a:rPr>
              <a:t>熟悉且有经验。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879017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</TotalTime>
  <Words>769</Words>
  <Application>Microsoft Office PowerPoint</Application>
  <PresentationFormat>Widescreen</PresentationFormat>
  <Paragraphs>65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ACC 路线  (偏向于周中Afterwork)</vt:lpstr>
      <vt:lpstr>Route 1</vt:lpstr>
      <vt:lpstr>Route 2</vt:lpstr>
      <vt:lpstr>PowerPoint Presentation</vt:lpstr>
      <vt:lpstr>PowerPoint Presentation</vt:lpstr>
      <vt:lpstr>PowerPoint Presentation</vt:lpstr>
      <vt:lpstr>备注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Ruining Yu</dc:creator>
  <cp:lastModifiedBy>Ruining Yu</cp:lastModifiedBy>
  <cp:revision>2</cp:revision>
  <dcterms:created xsi:type="dcterms:W3CDTF">2026-01-21T11:26:33Z</dcterms:created>
  <dcterms:modified xsi:type="dcterms:W3CDTF">2026-01-22T00:53:05Z</dcterms:modified>
</cp:coreProperties>
</file>